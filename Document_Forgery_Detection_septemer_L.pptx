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B5CA286-649A-479D-A48C-7D9B07EB8371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8C540C-D17A-4613-893E-ADFEF0E753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F5EB42-0BD5-4AAB-902F-8499DA8AF9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1E1E5E-53C2-46C3-A020-93FD307BF92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IN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FBCD78-BFF3-4FF8-BF81-8154C54C15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965118-BCB3-4FFC-AD71-255E1D217E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F89C420-DA67-4564-A7BF-0CEC2A12019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247402-2376-4D4D-B47E-94359510FB8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www.kaggle.com/datasets/dinmkeljiame/doctamper" TargetMode="External"/><Relationship Id="rId2" Type="http://schemas.openxmlformats.org/officeDocument/2006/relationships/hyperlink" Target="https://huggingface.co/datasets/nebula/CocoGlid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/>
        </p:nvSpPr>
        <p:spPr>
          <a:xfrm>
            <a:off x="1143000" y="1023840"/>
            <a:ext cx="4600440" cy="676080"/>
          </a:xfrm>
          <a:prstGeom prst="rect">
            <a:avLst/>
          </a:prstGeom>
          <a:solidFill>
            <a:srgbClr val="00508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" name="TextBox 2"/>
          <p:cNvSpPr/>
          <p:nvPr/>
        </p:nvSpPr>
        <p:spPr>
          <a:xfrm>
            <a:off x="1447920" y="1176480"/>
            <a:ext cx="417168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Inter Black"/>
              </a:rPr>
              <a:t>PROJECT DEFINITION</a:t>
            </a:r>
            <a:endParaRPr lang="en-IN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Box 3"/>
          <p:cNvSpPr/>
          <p:nvPr/>
        </p:nvSpPr>
        <p:spPr>
          <a:xfrm>
            <a:off x="1143000" y="2176560"/>
            <a:ext cx="9905760" cy="42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4799"/>
              </a:lnSpc>
            </a:pPr>
            <a:r>
              <a:rPr lang="en-US" sz="3000" b="0" u="none" strike="noStrike">
                <a:solidFill>
                  <a:srgbClr val="111827"/>
                </a:solidFill>
                <a:effectLst/>
                <a:uFillTx/>
                <a:latin typeface="Inter"/>
              </a:rPr>
              <a:t>To design a </a:t>
            </a:r>
            <a:r>
              <a:rPr lang="en-US" sz="3000" b="1" u="none" strike="noStrike">
                <a:solidFill>
                  <a:srgbClr val="005088"/>
                </a:solidFill>
                <a:effectLst/>
                <a:uFillTx/>
                <a:latin typeface="Inter"/>
              </a:rPr>
              <a:t>governed, privacy-preserving, and interoperable AI framework</a:t>
            </a:r>
            <a:r>
              <a:rPr lang="en-US" sz="3000" b="0" u="none" strike="noStrike">
                <a:solidFill>
                  <a:srgbClr val="111827"/>
                </a:solidFill>
                <a:effectLst/>
                <a:uFillTx/>
                <a:latin typeface="Inter"/>
              </a:rPr>
              <a:t> for verifying merchant onboarding documents (KYC/KYB) and detecting potential forgery, tampering, manipulation, and cross-document inconsistencies before onboarding approval by generating </a:t>
            </a:r>
            <a:r>
              <a:rPr lang="en-US" sz="3000" b="1" u="none" strike="noStrike">
                <a:solidFill>
                  <a:srgbClr val="005088"/>
                </a:solidFill>
                <a:effectLst/>
                <a:uFillTx/>
                <a:latin typeface="Inter"/>
              </a:rPr>
              <a:t>evidence-backed findings</a:t>
            </a:r>
            <a:r>
              <a:rPr lang="en-US" sz="3000" b="0" u="none" strike="noStrike">
                <a:solidFill>
                  <a:srgbClr val="111827"/>
                </a:solidFill>
                <a:effectLst/>
                <a:uFillTx/>
                <a:latin typeface="Inter"/>
              </a:rPr>
              <a:t>.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457200" y="320040"/>
            <a:ext cx="11246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C8552C"/>
                </a:solidFill>
                <a:effectLst/>
                <a:uFillTx/>
                <a:latin typeface="Calibri"/>
                <a:ea typeface="Calibri"/>
              </a:rPr>
              <a:t>SECTION 1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"/>
          <p:cNvSpPr/>
          <p:nvPr/>
        </p:nvSpPr>
        <p:spPr>
          <a:xfrm>
            <a:off x="457200" y="5670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Core Research Papers — DocTamper &amp; TruFor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2"/>
          <p:cNvSpPr/>
          <p:nvPr/>
        </p:nvSpPr>
        <p:spPr>
          <a:xfrm>
            <a:off x="457200" y="1280160"/>
            <a:ext cx="5486040" cy="5166000"/>
          </a:xfrm>
          <a:prstGeom prst="roundRect">
            <a:avLst>
              <a:gd name="adj" fmla="val 1770"/>
            </a:avLst>
          </a:prstGeom>
          <a:solidFill>
            <a:srgbClr val="F4F6FB"/>
          </a:solidFill>
          <a:ln w="12600">
            <a:solidFill>
              <a:srgbClr val="D8DEEB"/>
            </a:solidFill>
            <a:round/>
          </a:ln>
          <a:effectLst>
            <a:outerShdw dist="25560" dir="5400000" blurRad="63360" rotWithShape="0">
              <a:srgbClr val="999999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3"/>
          <p:cNvSpPr/>
          <p:nvPr/>
        </p:nvSpPr>
        <p:spPr>
          <a:xfrm>
            <a:off x="713160" y="1499760"/>
            <a:ext cx="118440" cy="50256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4"/>
          <p:cNvSpPr/>
          <p:nvPr/>
        </p:nvSpPr>
        <p:spPr>
          <a:xfrm>
            <a:off x="932760" y="1417320"/>
            <a:ext cx="4023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DocTamper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5"/>
          <p:cNvSpPr/>
          <p:nvPr/>
        </p:nvSpPr>
        <p:spPr>
          <a:xfrm>
            <a:off x="932760" y="173736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6"/>
          <p:cNvSpPr/>
          <p:nvPr/>
        </p:nvSpPr>
        <p:spPr>
          <a:xfrm>
            <a:off x="713160" y="2039040"/>
            <a:ext cx="4974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  <a:hlinkClick r:id="rId1"/>
              </a:rPr>
              <a:t>DATASET :  https://www.kaggle.com/datasets/dinmkeljiame/doctamper</a:t>
            </a:r>
            <a:endParaRPr lang="en-IN" sz="12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7"/>
          <p:cNvSpPr/>
          <p:nvPr/>
        </p:nvSpPr>
        <p:spPr>
          <a:xfrm>
            <a:off x="713160" y="2331720"/>
            <a:ext cx="497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51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WHAT IT SOLVES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8"/>
          <p:cNvSpPr/>
          <p:nvPr/>
        </p:nvSpPr>
        <p:spPr>
          <a:xfrm>
            <a:off x="713160" y="2514600"/>
            <a:ext cx="4974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  <a:ea typeface="Calibri"/>
              </a:rPr>
              <a:t>Detects tampered TEXT inside document images — edited characters, numbers, fields.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9"/>
          <p:cNvSpPr/>
          <p:nvPr/>
        </p:nvSpPr>
        <p:spPr>
          <a:xfrm>
            <a:off x="713160" y="2935080"/>
            <a:ext cx="497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51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HOW IT SOLVES IT (APPROACH)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0"/>
          <p:cNvSpPr/>
          <p:nvPr/>
        </p:nvSpPr>
        <p:spPr>
          <a:xfrm>
            <a:off x="713160" y="3117960"/>
            <a:ext cx="4974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222222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222222"/>
                </a:solidFill>
                <a:effectLst/>
                <a:uFillTx/>
                <a:latin typeface="Calibri"/>
                <a:ea typeface="Calibri"/>
              </a:rPr>
              <a:t>Dual branch: RGB + JPEG/DCT compression features, fused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222222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222222"/>
                </a:solidFill>
                <a:effectLst/>
                <a:uFillTx/>
                <a:latin typeface="Calibri"/>
                <a:ea typeface="Calibri"/>
              </a:rPr>
              <a:t>Curriculum learning (CLTD) for robustness across compression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222222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222222"/>
                </a:solidFill>
                <a:effectLst/>
                <a:uFillTx/>
                <a:latin typeface="Calibri"/>
                <a:ea typeface="Calibri"/>
              </a:rPr>
              <a:t>Own 170K-image benchmark (DocTamper) built to train on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1"/>
          <p:cNvSpPr/>
          <p:nvPr/>
        </p:nvSpPr>
        <p:spPr>
          <a:xfrm>
            <a:off x="713160" y="3922920"/>
            <a:ext cx="497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2"/>
          <p:cNvSpPr/>
          <p:nvPr/>
        </p:nvSpPr>
        <p:spPr>
          <a:xfrm>
            <a:off x="713160" y="4105800"/>
            <a:ext cx="497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3"/>
          <p:cNvSpPr/>
          <p:nvPr/>
        </p:nvSpPr>
        <p:spPr>
          <a:xfrm>
            <a:off x="713160" y="4526280"/>
            <a:ext cx="4974120" cy="360"/>
          </a:xfrm>
          <a:prstGeom prst="line">
            <a:avLst/>
          </a:prstGeom>
          <a:ln w="12600">
            <a:solidFill>
              <a:srgbClr val="D8D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4"/>
          <p:cNvSpPr/>
          <p:nvPr/>
        </p:nvSpPr>
        <p:spPr>
          <a:xfrm>
            <a:off x="713160" y="4617720"/>
            <a:ext cx="497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51" strike="noStrike">
                <a:solidFill>
                  <a:srgbClr val="3465A4"/>
                </a:solidFill>
                <a:effectLst/>
                <a:uFillTx/>
                <a:latin typeface="Calibri"/>
                <a:ea typeface="Calibri"/>
              </a:rPr>
              <a:t>RESEARCH GAP</a:t>
            </a:r>
            <a:endParaRPr lang="en-IN" sz="950" b="0" u="none" strike="noStrike">
              <a:solidFill>
                <a:srgbClr val="3465A4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5"/>
          <p:cNvSpPr/>
          <p:nvPr/>
        </p:nvSpPr>
        <p:spPr>
          <a:xfrm>
            <a:off x="713160" y="4800600"/>
            <a:ext cx="4974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8552C"/>
                </a:solidFill>
                <a:effectLst/>
                <a:uFillTx/>
                <a:latin typeface="Calibri"/>
                <a:ea typeface="Calibri"/>
              </a:rPr>
              <a:t>Trained only on synthetic, rule-based tampering — near-zero F1 on real AI/diffusion-edited text (DocForge-Bench, 2026).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6"/>
          <p:cNvSpPr/>
          <p:nvPr/>
        </p:nvSpPr>
        <p:spPr>
          <a:xfrm>
            <a:off x="713160" y="5330880"/>
            <a:ext cx="497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7"/>
          <p:cNvSpPr/>
          <p:nvPr/>
        </p:nvSpPr>
        <p:spPr>
          <a:xfrm>
            <a:off x="713160" y="5513760"/>
            <a:ext cx="497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8"/>
          <p:cNvSpPr/>
          <p:nvPr/>
        </p:nvSpPr>
        <p:spPr>
          <a:xfrm>
            <a:off x="6217920" y="1280160"/>
            <a:ext cx="5486040" cy="5166000"/>
          </a:xfrm>
          <a:prstGeom prst="roundRect">
            <a:avLst>
              <a:gd name="adj" fmla="val 1770"/>
            </a:avLst>
          </a:prstGeom>
          <a:solidFill>
            <a:srgbClr val="F4F6FB"/>
          </a:solidFill>
          <a:ln w="12600">
            <a:solidFill>
              <a:srgbClr val="D8DEEB"/>
            </a:solidFill>
            <a:round/>
          </a:ln>
          <a:effectLst>
            <a:outerShdw dist="25560" dir="5400000" blurRad="63360" rotWithShape="0">
              <a:srgbClr val="999999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9"/>
          <p:cNvSpPr/>
          <p:nvPr/>
        </p:nvSpPr>
        <p:spPr>
          <a:xfrm>
            <a:off x="6473880" y="1499760"/>
            <a:ext cx="118440" cy="502560"/>
          </a:xfrm>
          <a:prstGeom prst="roundRect">
            <a:avLst>
              <a:gd name="adj" fmla="val 16667"/>
            </a:avLst>
          </a:prstGeom>
          <a:solidFill>
            <a:srgbClr val="C8552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0"/>
          <p:cNvSpPr/>
          <p:nvPr/>
        </p:nvSpPr>
        <p:spPr>
          <a:xfrm>
            <a:off x="6693480" y="1417320"/>
            <a:ext cx="40230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TruFor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1"/>
          <p:cNvSpPr/>
          <p:nvPr/>
        </p:nvSpPr>
        <p:spPr>
          <a:xfrm>
            <a:off x="6693480" y="173736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2"/>
          <p:cNvSpPr/>
          <p:nvPr/>
        </p:nvSpPr>
        <p:spPr>
          <a:xfrm>
            <a:off x="6473880" y="2039040"/>
            <a:ext cx="4974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  <a:hlinkClick r:id="rId2"/>
              </a:rPr>
              <a:t>DATASET : https://huggingface.co/datasets/nebula/CocoGlide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3"/>
          <p:cNvSpPr/>
          <p:nvPr/>
        </p:nvSpPr>
        <p:spPr>
          <a:xfrm>
            <a:off x="6473880" y="2331720"/>
            <a:ext cx="497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51" strike="noStrike">
                <a:solidFill>
                  <a:srgbClr val="C8552C"/>
                </a:solidFill>
                <a:effectLst/>
                <a:uFillTx/>
                <a:latin typeface="Calibri"/>
                <a:ea typeface="Calibri"/>
              </a:rPr>
              <a:t>WHAT IT SOLVES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4"/>
          <p:cNvSpPr/>
          <p:nvPr/>
        </p:nvSpPr>
        <p:spPr>
          <a:xfrm>
            <a:off x="6473880" y="2514600"/>
            <a:ext cx="4974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222222"/>
                </a:solidFill>
                <a:effectLst/>
                <a:uFillTx/>
                <a:latin typeface="Calibri"/>
                <a:ea typeface="Calibri"/>
              </a:rPr>
              <a:t>Detects AND localizes general image forgery, with a trust/confidence score — not just yes/no.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5"/>
          <p:cNvSpPr/>
          <p:nvPr/>
        </p:nvSpPr>
        <p:spPr>
          <a:xfrm>
            <a:off x="6473880" y="2935080"/>
            <a:ext cx="497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51" strike="noStrike">
                <a:solidFill>
                  <a:srgbClr val="C8552C"/>
                </a:solidFill>
                <a:effectLst/>
                <a:uFillTx/>
                <a:latin typeface="Calibri"/>
                <a:ea typeface="Calibri"/>
              </a:rPr>
              <a:t>HOW IT SOLVES IT (APPROACH)</a:t>
            </a:r>
            <a:endParaRPr lang="en-IN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6"/>
          <p:cNvSpPr/>
          <p:nvPr/>
        </p:nvSpPr>
        <p:spPr>
          <a:xfrm>
            <a:off x="6473880" y="3117960"/>
            <a:ext cx="49741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222222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222222"/>
                </a:solidFill>
                <a:effectLst/>
                <a:uFillTx/>
                <a:latin typeface="Calibri"/>
                <a:ea typeface="Calibri"/>
              </a:rPr>
              <a:t>Learns a noise fingerprint (Noiseprint++) from camera/scan pattern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222222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222222"/>
                </a:solidFill>
                <a:effectLst/>
                <a:uFillTx/>
                <a:latin typeface="Calibri"/>
                <a:ea typeface="Calibri"/>
              </a:rPr>
              <a:t>Fuses fingerprint + RGB → forgery anomaly map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9"/>
              </a:spcAft>
              <a:buClr>
                <a:srgbClr val="222222"/>
              </a:buClr>
              <a:buFont typeface="Symbol" charset="2"/>
              <a:buChar char=""/>
            </a:pPr>
            <a:r>
              <a:rPr lang="en-US" sz="1050" b="0" u="none" strike="noStrike">
                <a:solidFill>
                  <a:srgbClr val="222222"/>
                </a:solidFill>
                <a:effectLst/>
                <a:uFillTx/>
                <a:latin typeface="Calibri"/>
                <a:ea typeface="Calibri"/>
              </a:rPr>
              <a:t>Also outputs confidence map + one integrity score</a:t>
            </a:r>
            <a:endParaRPr lang="en-IN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7"/>
          <p:cNvSpPr/>
          <p:nvPr/>
        </p:nvSpPr>
        <p:spPr>
          <a:xfrm>
            <a:off x="6473880" y="3922920"/>
            <a:ext cx="497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8"/>
          <p:cNvSpPr/>
          <p:nvPr/>
        </p:nvSpPr>
        <p:spPr>
          <a:xfrm>
            <a:off x="6473880" y="4105800"/>
            <a:ext cx="4974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29"/>
          <p:cNvSpPr/>
          <p:nvPr/>
        </p:nvSpPr>
        <p:spPr>
          <a:xfrm>
            <a:off x="6473880" y="4526280"/>
            <a:ext cx="4974120" cy="360"/>
          </a:xfrm>
          <a:prstGeom prst="line">
            <a:avLst/>
          </a:prstGeom>
          <a:ln w="12600">
            <a:solidFill>
              <a:srgbClr val="D8D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0"/>
          <p:cNvSpPr/>
          <p:nvPr/>
        </p:nvSpPr>
        <p:spPr>
          <a:xfrm>
            <a:off x="6473880" y="4617720"/>
            <a:ext cx="497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pc="51" strike="noStrike">
                <a:solidFill>
                  <a:srgbClr val="3465A4"/>
                </a:solidFill>
                <a:effectLst/>
                <a:uFillTx/>
                <a:latin typeface="Calibri"/>
                <a:ea typeface="Calibri"/>
              </a:rPr>
              <a:t>RESEARCH GAP</a:t>
            </a:r>
            <a:endParaRPr lang="en-IN" sz="950" b="0" u="none" strike="noStrike">
              <a:solidFill>
                <a:srgbClr val="3465A4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1"/>
          <p:cNvSpPr/>
          <p:nvPr/>
        </p:nvSpPr>
        <p:spPr>
          <a:xfrm>
            <a:off x="6473880" y="4800600"/>
            <a:ext cx="4974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C8552C"/>
                </a:solidFill>
                <a:effectLst/>
                <a:uFillTx/>
                <a:latin typeface="Calibri"/>
                <a:ea typeface="Calibri"/>
              </a:rPr>
              <a:t>Not document/text-aware — trained on natural photos, misses character-level and template forgeries.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2"/>
          <p:cNvSpPr/>
          <p:nvPr/>
        </p:nvSpPr>
        <p:spPr>
          <a:xfrm>
            <a:off x="6473880" y="5330880"/>
            <a:ext cx="4974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3"/>
          <p:cNvSpPr/>
          <p:nvPr/>
        </p:nvSpPr>
        <p:spPr>
          <a:xfrm>
            <a:off x="6473880" y="5513760"/>
            <a:ext cx="4974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4"/>
          <p:cNvSpPr/>
          <p:nvPr/>
        </p:nvSpPr>
        <p:spPr>
          <a:xfrm>
            <a:off x="457200" y="653796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Governed Merchant Onboarding Document Verification — Forgery Detection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5"/>
          <p:cNvSpPr/>
          <p:nvPr/>
        </p:nvSpPr>
        <p:spPr>
          <a:xfrm>
            <a:off x="1143000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0"/>
          <p:cNvSpPr/>
          <p:nvPr/>
        </p:nvSpPr>
        <p:spPr>
          <a:xfrm>
            <a:off x="457200" y="320040"/>
            <a:ext cx="11246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C8552C"/>
                </a:solidFill>
                <a:effectLst/>
                <a:uFillTx/>
                <a:latin typeface="Calibri"/>
                <a:ea typeface="Calibri"/>
              </a:rPr>
              <a:t>SECTION 2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457200" y="567000"/>
            <a:ext cx="11246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Technical Forgery Types → Forensic Detection Signal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3" name="Table 0"/>
          <p:cNvGraphicFramePr/>
          <p:nvPr/>
        </p:nvGraphicFramePr>
        <p:xfrm>
          <a:off x="457200" y="1417320"/>
          <a:ext cx="11246760" cy="502812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389120"/>
              </a:tblGrid>
              <a:tr h="628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Forgery Type</a:t>
                      </a:r>
                      <a:endParaRPr lang="en-IN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What It Looks Like</a:t>
                      </a:r>
                      <a:endParaRPr lang="en-IN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Forensic Signal That Detects It</a:t>
                      </a:r>
                      <a:endParaRPr lang="en-IN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628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E2761"/>
                          </a:solidFill>
                          <a:effectLst/>
                          <a:uFillTx/>
                          <a:latin typeface="Calibri"/>
                        </a:rPr>
                        <a:t>Copy-move forgery</a:t>
                      </a:r>
                      <a:endParaRPr lang="en-IN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Duplicated region within the same document (e.g. a copied digit/seal)</a:t>
                      </a:r>
                      <a:endParaRPr lang="en-IN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Keypoint / block matching (SIFT, ORB, PatchMatch)</a:t>
                      </a:r>
                      <a:endParaRPr lang="en-IN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E2761"/>
                          </a:solidFill>
                          <a:effectLst/>
                          <a:uFillTx/>
                          <a:latin typeface="Calibri"/>
                        </a:rPr>
                        <a:t>Splicing</a:t>
                      </a:r>
                      <a:endParaRPr lang="en-IN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Region pasted in from a different image/document</a:t>
                      </a:r>
                      <a:endParaRPr lang="en-IN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DCT / JPEG-grid + noise-inconsistency analysis</a:t>
                      </a:r>
                      <a:endParaRPr lang="en-IN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628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E2761"/>
                          </a:solidFill>
                          <a:effectLst/>
                          <a:uFillTx/>
                          <a:latin typeface="Calibri"/>
                        </a:rPr>
                        <a:t>Retouching / inpainting</a:t>
                      </a:r>
                      <a:endParaRPr lang="en-IN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Content removed or smoothed out (stamp, amount, watermark erased)</a:t>
                      </a:r>
                      <a:endParaRPr lang="en-IN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PRNU noise gaps, resampling &amp; edge-frequency artifacts</a:t>
                      </a:r>
                      <a:endParaRPr lang="en-IN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E2761"/>
                          </a:solidFill>
                          <a:effectLst/>
                          <a:uFillTx/>
                          <a:latin typeface="Calibri"/>
                        </a:rPr>
                        <a:t>Text / font tampering</a:t>
                      </a:r>
                      <a:endParaRPr lang="en-IN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Character inserted, deleted, or replaced</a:t>
                      </a:r>
                      <a:endParaRPr lang="en-IN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OCR + font-consistency, text-line/baseline alignment checks</a:t>
                      </a:r>
                      <a:endParaRPr lang="en-IN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628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E2761"/>
                          </a:solidFill>
                          <a:effectLst/>
                          <a:uFillTx/>
                          <a:latin typeface="Calibri"/>
                        </a:rPr>
                        <a:t>Template / counterfeiting</a:t>
                      </a:r>
                      <a:endParaRPr lang="en-IN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Whole document recreated from a fake template</a:t>
                      </a:r>
                      <a:endParaRPr lang="en-IN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Structural template matching, QR/barcode &amp; checksum validation</a:t>
                      </a:r>
                      <a:endParaRPr lang="en-IN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E2761"/>
                          </a:solidFill>
                          <a:effectLst/>
                          <a:uFillTx/>
                          <a:latin typeface="Calibri"/>
                        </a:rPr>
                        <a:t>Metadata forgery</a:t>
                      </a:r>
                      <a:endParaRPr lang="en-IN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EXIF / XMP / PDF metadata edited or stripped</a:t>
                      </a:r>
                      <a:endParaRPr lang="en-IN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EXIF-XMP-PDF metadata consistency &amp; editing-software tag checks</a:t>
                      </a:r>
                      <a:endParaRPr lang="en-IN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62856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1E2761"/>
                          </a:solidFill>
                          <a:effectLst/>
                          <a:uFillTx/>
                          <a:latin typeface="Calibri"/>
                        </a:rPr>
                        <a:t>Re-digitization (screenshot/rescan)</a:t>
                      </a:r>
                      <a:endParaRPr lang="en-IN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Tampered doc re-photographed to erase edit traces</a:t>
                      </a:r>
                      <a:endParaRPr lang="en-IN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Double-compression depth analysis, moiré-pattern detection</a:t>
                      </a:r>
                      <a:endParaRPr lang="en-IN" sz="11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Text 2"/>
          <p:cNvSpPr/>
          <p:nvPr/>
        </p:nvSpPr>
        <p:spPr>
          <a:xfrm>
            <a:off x="457200" y="653796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Governed Merchant Onboarding Document Verification — Forgery Detection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"/>
          <p:cNvSpPr/>
          <p:nvPr/>
        </p:nvSpPr>
        <p:spPr>
          <a:xfrm>
            <a:off x="11430000" y="653796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13"/>
          <p:cNvSpPr/>
          <p:nvPr/>
        </p:nvSpPr>
        <p:spPr>
          <a:xfrm>
            <a:off x="457200" y="274320"/>
            <a:ext cx="11246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99" strike="noStrike">
                <a:solidFill>
                  <a:srgbClr val="C8552C"/>
                </a:solidFill>
                <a:effectLst/>
                <a:uFillTx/>
                <a:latin typeface="Calibri"/>
                <a:ea typeface="Calibri"/>
              </a:rPr>
              <a:t>CURRENT LANDSCAPE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8"/>
          <p:cNvSpPr/>
          <p:nvPr/>
        </p:nvSpPr>
        <p:spPr>
          <a:xfrm>
            <a:off x="457200" y="511920"/>
            <a:ext cx="11246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Current Existing Solutions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8" name="Table 1"/>
          <p:cNvGraphicFramePr/>
          <p:nvPr/>
        </p:nvGraphicFramePr>
        <p:xfrm>
          <a:off x="457200" y="1234440"/>
          <a:ext cx="11246760" cy="4204440"/>
        </p:xfrm>
        <a:graphic>
          <a:graphicData uri="http://schemas.openxmlformats.org/drawingml/2006/table">
            <a:tbl>
              <a:tblPr/>
              <a:tblGrid>
                <a:gridCol w="1920240"/>
                <a:gridCol w="2011680"/>
                <a:gridCol w="4023360"/>
                <a:gridCol w="3291840"/>
              </a:tblGrid>
              <a:tr h="840960">
                <a:tc>
                  <a:txBody>
                    <a:bodyPr lIns="101520" tIns="63360" rIns="10152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Company</a:t>
                      </a:r>
                      <a:endParaRPr lang="en-IN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63360" marB="633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101520" tIns="63360" rIns="10152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Scope</a:t>
                      </a:r>
                      <a:endParaRPr lang="en-IN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63360" marB="633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101520" tIns="63360" rIns="10152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What They Solve</a:t>
                      </a:r>
                      <a:endParaRPr lang="en-IN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63360" marB="633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101520" tIns="63360" rIns="10152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Gap / Not Solved</a:t>
                      </a:r>
                      <a:endParaRPr lang="en-IN" sz="11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63360" marB="633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840960">
                <a:tc>
                  <a:txBody>
                    <a:bodyPr lIns="101520" tIns="63360" rIns="10152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1E2761"/>
                          </a:solidFill>
                          <a:effectLst/>
                          <a:uFillTx/>
                          <a:latin typeface="Calibri"/>
                        </a:rPr>
                        <a:t>Stripe (Identity)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63360" marB="633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63360" rIns="10152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Global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63360" marB="633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63360" rIns="10152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AI + manual review vs. fraud-template DB; in-doc barcode/text consistency; selfie/liveness match; ID-number cross-check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63360" marB="633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63360" rIns="10152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C8552C"/>
                          </a:solidFill>
                          <a:effectLst/>
                          <a:uFillTx/>
                          <a:latin typeface="Calibri"/>
                        </a:rPr>
                        <a:t>No cross-document consistency; docs stored centrally, not edge-first; no signature verification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63360" marB="633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0960">
                <a:tc>
                  <a:txBody>
                    <a:bodyPr lIns="101520" tIns="63360" rIns="10152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1E2761"/>
                          </a:solidFill>
                          <a:effectLst/>
                          <a:uFillTx/>
                          <a:latin typeface="Calibri"/>
                        </a:rPr>
                        <a:t>Razorpay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63360" marB="633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 lIns="101520" tIns="63360" rIns="10152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India (PAN, GST, Aadhaar eKYC)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63360" marB="633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 lIns="101520" tIns="63360" rIns="10152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Name/address matching across PAN, GST &amp; bank; Aadhaar eKYC; video KYC for signatory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63360" marB="633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 lIns="101520" tIns="63360" rIns="10152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C8552C"/>
                          </a:solidFill>
                          <a:effectLst/>
                          <a:uFillTx/>
                          <a:latin typeface="Calibri"/>
                        </a:rPr>
                        <a:t>Rule-based string matching, not forensic; no pixel-level tamper detection; no signature verification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63360" marB="633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EDEFF7"/>
                    </a:solidFill>
                  </a:tcPr>
                </a:tc>
              </a:tr>
              <a:tr h="840960">
                <a:tc>
                  <a:txBody>
                    <a:bodyPr lIns="101520" tIns="63360" rIns="10152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1E2761"/>
                          </a:solidFill>
                          <a:effectLst/>
                          <a:uFillTx/>
                          <a:latin typeface="Calibri"/>
                        </a:rPr>
                        <a:t>Visa (VMSS)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63360" marB="633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63360" rIns="10152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Global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63360" marB="633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63360" rIns="10152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Cross-acquirer screening against Terminated Merchant Database before onboarding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63360" marB="633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63360" rIns="10152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C8552C"/>
                          </a:solidFill>
                          <a:effectLst/>
                          <a:uFillTx/>
                          <a:latin typeface="Calibri"/>
                        </a:rPr>
                        <a:t>No document forensics at all; offboarded merchants reappear elsewhere with altered docs — acknowledged gap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63360" marB="633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0960">
                <a:tc>
                  <a:txBody>
                    <a:bodyPr lIns="101520" tIns="63360" rIns="10152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1E2761"/>
                          </a:solidFill>
                          <a:effectLst/>
                          <a:uFillTx/>
                          <a:latin typeface="Calibri"/>
                        </a:rPr>
                        <a:t>Mastercard (Identity / Ekata)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63360" marB="633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 lIns="101520" tIns="63360" rIns="10152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Global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63360" marB="633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 lIns="101520" tIns="63360" rIns="10152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222222"/>
                          </a:solidFill>
                          <a:effectLst/>
                          <a:uFillTx/>
                          <a:latin typeface="Calibri"/>
                        </a:rPr>
                        <a:t>Data-signal risk scoring (name/phone/address/email); synthetic-identity &amp; behavioral detection via partners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63360" marB="633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EDEFF7"/>
                    </a:solidFill>
                  </a:tcPr>
                </a:tc>
                <a:tc>
                  <a:txBody>
                    <a:bodyPr lIns="101520" tIns="63360" rIns="101520" bIns="63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50" b="0" u="none" strike="noStrike">
                          <a:solidFill>
                            <a:srgbClr val="C8552C"/>
                          </a:solidFill>
                          <a:effectLst/>
                          <a:uFillTx/>
                          <a:latin typeface="Calibri"/>
                        </a:rPr>
                        <a:t>Not document-image forensics; relies on 3rd-party data, not the document artifact itself; no signature verification</a:t>
                      </a:r>
                      <a:endParaRPr lang="en-IN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63360" marB="63360">
                    <a:lnL w="9360">
                      <a:solidFill>
                        <a:srgbClr val="D8DEEB"/>
                      </a:solidFill>
                      <a:prstDash val="solid"/>
                    </a:lnL>
                    <a:lnR w="9360">
                      <a:solidFill>
                        <a:srgbClr val="D8DEEB"/>
                      </a:solidFill>
                      <a:prstDash val="solid"/>
                    </a:lnR>
                    <a:lnT w="9360">
                      <a:solidFill>
                        <a:srgbClr val="D8DEEB"/>
                      </a:solidFill>
                      <a:prstDash val="solid"/>
                    </a:lnT>
                    <a:lnB w="9360">
                      <a:solidFill>
                        <a:srgbClr val="D8DEEB"/>
                      </a:solidFill>
                      <a:prstDash val="solid"/>
                    </a:lnB>
                    <a:solidFill>
                      <a:srgbClr val="EDEFF7"/>
                    </a:solidFill>
                  </a:tcPr>
                </a:tc>
              </a:tr>
            </a:tbl>
          </a:graphicData>
        </a:graphic>
      </p:graphicFrame>
      <p:sp>
        <p:nvSpPr>
          <p:cNvPr id="69" name="Shape 1"/>
          <p:cNvSpPr/>
          <p:nvPr/>
        </p:nvSpPr>
        <p:spPr>
          <a:xfrm>
            <a:off x="457200" y="5623560"/>
            <a:ext cx="11246760" cy="77688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 w="12600">
            <a:solidFill>
              <a:srgbClr val="D8D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9"/>
          <p:cNvSpPr/>
          <p:nvPr/>
        </p:nvSpPr>
        <p:spPr>
          <a:xfrm>
            <a:off x="685800" y="562356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8552C"/>
                </a:solidFill>
                <a:effectLst/>
                <a:uFillTx/>
                <a:latin typeface="Calibri"/>
                <a:ea typeface="Calibri"/>
              </a:rPr>
              <a:t>Cross-cutting gap: </a:t>
            </a:r>
            <a:r>
              <a:rPr lang="en-US" sz="1200" b="0" u="none" strike="noStrike">
                <a:solidFill>
                  <a:srgbClr val="222222"/>
                </a:solidFill>
                <a:effectLst/>
                <a:uFillTx/>
                <a:latin typeface="Calibri"/>
                <a:ea typeface="Calibri"/>
              </a:rPr>
              <a:t>none of the four verify a cryptographic signature on the source document, and none produce a reason-coded, evidence-backed trust receipt — the core gap this project addresses.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9"/>
          <p:cNvSpPr/>
          <p:nvPr/>
        </p:nvSpPr>
        <p:spPr>
          <a:xfrm>
            <a:off x="457200" y="653796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Governed Merchant Onboarding Document Verification — Forgery Detection</a:t>
            </a:r>
            <a:endParaRPr lang="en-IN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3"/>
          <p:cNvSpPr/>
          <p:nvPr/>
        </p:nvSpPr>
        <p:spPr>
          <a:xfrm>
            <a:off x="866880" y="1509840"/>
            <a:ext cx="3429000" cy="576360"/>
          </a:xfrm>
          <a:prstGeom prst="rect">
            <a:avLst/>
          </a:prstGeom>
          <a:solidFill>
            <a:srgbClr val="0050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4"/>
          <p:cNvSpPr/>
          <p:nvPr/>
        </p:nvSpPr>
        <p:spPr>
          <a:xfrm>
            <a:off x="857160" y="1593360"/>
            <a:ext cx="3371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 anchorCtr="1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Inter Black"/>
              </a:rPr>
              <a:t>DATASET TO EXPLORE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4"/>
          <p:cNvSpPr/>
          <p:nvPr/>
        </p:nvSpPr>
        <p:spPr>
          <a:xfrm>
            <a:off x="6044040" y="1567080"/>
            <a:ext cx="2947680" cy="504360"/>
          </a:xfrm>
          <a:prstGeom prst="rect">
            <a:avLst/>
          </a:prstGeom>
          <a:solidFill>
            <a:srgbClr val="00508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5"/>
          <p:cNvSpPr/>
          <p:nvPr/>
        </p:nvSpPr>
        <p:spPr>
          <a:xfrm>
            <a:off x="6272640" y="1624320"/>
            <a:ext cx="25570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Inter Black"/>
              </a:rPr>
              <a:t>FUTURE WORK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7"/>
          <p:cNvSpPr/>
          <p:nvPr/>
        </p:nvSpPr>
        <p:spPr>
          <a:xfrm>
            <a:off x="952560" y="2300400"/>
            <a:ext cx="432900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310"/>
              </a:lnSpc>
            </a:pPr>
            <a:r>
              <a:rPr lang="en-US" sz="1650" b="1" u="none" strike="noStrike">
                <a:solidFill>
                  <a:srgbClr val="111827"/>
                </a:solidFill>
                <a:effectLst/>
                <a:uFillTx/>
                <a:latin typeface="Inter"/>
              </a:rPr>
              <a:t>IDNet: Identity Analysis Image Dataset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ounded Rectangle 3"/>
          <p:cNvSpPr/>
          <p:nvPr/>
        </p:nvSpPr>
        <p:spPr>
          <a:xfrm>
            <a:off x="952560" y="2707920"/>
            <a:ext cx="4329000" cy="635760"/>
          </a:xfrm>
          <a:prstGeom prst="roundRect">
            <a:avLst>
              <a:gd name="adj" fmla="val 11979"/>
            </a:avLst>
          </a:prstGeom>
          <a:solidFill>
            <a:srgbClr val="F0F6FA"/>
          </a:solidFill>
          <a:ln>
            <a:solidFill>
              <a:srgbClr val="CCE0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8"/>
          <p:cNvSpPr/>
          <p:nvPr/>
        </p:nvSpPr>
        <p:spPr>
          <a:xfrm>
            <a:off x="1104840" y="2803320"/>
            <a:ext cx="402408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678"/>
              </a:lnSpc>
            </a:pPr>
            <a:r>
              <a:rPr lang="en-US" sz="1200" b="0" u="none" strike="noStrike">
                <a:solidFill>
                  <a:srgbClr val="005088"/>
                </a:solidFill>
                <a:effectLst/>
                <a:uFillTx/>
                <a:latin typeface="Inter"/>
              </a:rPr>
              <a:t>https://www.kaggle.com/datasets/chitreshkr/idnet-identity-document-analysis/data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952560" y="3677400"/>
            <a:ext cx="4329000" cy="58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2310"/>
              </a:lnSpc>
            </a:pPr>
            <a:r>
              <a:rPr lang="en-US" sz="1650" b="1" u="none" strike="noStrike">
                <a:solidFill>
                  <a:srgbClr val="111827"/>
                </a:solidFill>
                <a:effectLst/>
                <a:uFillTx/>
                <a:latin typeface="Inter"/>
              </a:rPr>
              <a:t>Image Forgery Detection Dataset (Splicing)</a:t>
            </a:r>
            <a:endParaRPr lang="en-IN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4"/>
          <p:cNvSpPr/>
          <p:nvPr/>
        </p:nvSpPr>
        <p:spPr>
          <a:xfrm>
            <a:off x="952560" y="4378680"/>
            <a:ext cx="4329000" cy="635760"/>
          </a:xfrm>
          <a:prstGeom prst="roundRect">
            <a:avLst>
              <a:gd name="adj" fmla="val 11979"/>
            </a:avLst>
          </a:prstGeom>
          <a:solidFill>
            <a:srgbClr val="F0F6FA"/>
          </a:solidFill>
          <a:ln>
            <a:solidFill>
              <a:srgbClr val="CCE0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11"/>
          <p:cNvSpPr/>
          <p:nvPr/>
        </p:nvSpPr>
        <p:spPr>
          <a:xfrm>
            <a:off x="1104840" y="4473720"/>
            <a:ext cx="402408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678"/>
              </a:lnSpc>
            </a:pPr>
            <a:r>
              <a:rPr lang="en-US" sz="1200" b="0" u="none" strike="noStrike">
                <a:solidFill>
                  <a:srgbClr val="005088"/>
                </a:solidFill>
                <a:effectLst/>
                <a:uFillTx/>
                <a:latin typeface="Inter"/>
              </a:rPr>
              <a:t>https://www.kaggle.com/datasets/prajnar3/image-forgery-detection-dataset-splicing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2"/>
          <p:cNvSpPr/>
          <p:nvPr/>
        </p:nvSpPr>
        <p:spPr>
          <a:xfrm>
            <a:off x="6110640" y="2276640"/>
            <a:ext cx="16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11827"/>
                </a:solidFill>
                <a:effectLst/>
                <a:uFillTx/>
                <a:latin typeface="Inter"/>
              </a:rPr>
              <a:t>1.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3"/>
          <p:cNvSpPr/>
          <p:nvPr/>
        </p:nvSpPr>
        <p:spPr>
          <a:xfrm>
            <a:off x="6367680" y="2300400"/>
            <a:ext cx="48715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6200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Inter"/>
              </a:rPr>
              <a:t>Dataset Selection &amp; Preparation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4"/>
          <p:cNvSpPr/>
          <p:nvPr/>
        </p:nvSpPr>
        <p:spPr>
          <a:xfrm>
            <a:off x="6063120" y="4286520"/>
            <a:ext cx="209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11827"/>
                </a:solidFill>
                <a:effectLst/>
                <a:uFillTx/>
                <a:latin typeface="Inter"/>
              </a:rPr>
              <a:t>2.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7"/>
          <p:cNvSpPr/>
          <p:nvPr/>
        </p:nvSpPr>
        <p:spPr>
          <a:xfrm>
            <a:off x="6367680" y="4310280"/>
            <a:ext cx="48715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952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11827"/>
                </a:solidFill>
                <a:effectLst/>
                <a:uFillTx/>
                <a:latin typeface="Inter"/>
              </a:rPr>
              <a:t>Image Tampering Detection</a:t>
            </a: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8"/>
          <p:cNvSpPr/>
          <p:nvPr/>
        </p:nvSpPr>
        <p:spPr>
          <a:xfrm>
            <a:off x="6453360" y="2691000"/>
            <a:ext cx="104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Inter"/>
              </a:rPr>
              <a:t>•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9"/>
          <p:cNvSpPr/>
          <p:nvPr/>
        </p:nvSpPr>
        <p:spPr>
          <a:xfrm>
            <a:off x="6558120" y="2691000"/>
            <a:ext cx="468072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760" tIns="0" rIns="0" bIns="0" anchor="t">
            <a:spAutoFit/>
          </a:bodyPr>
          <a:p>
            <a:pPr defTabSz="457200">
              <a:lnSpc>
                <a:spcPts val="2251"/>
              </a:lnSpc>
            </a:pP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Inter"/>
              </a:rPr>
              <a:t>Select the most relevant datasets for ID/document forgery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0"/>
          <p:cNvSpPr/>
          <p:nvPr/>
        </p:nvSpPr>
        <p:spPr>
          <a:xfrm>
            <a:off x="6453360" y="3357720"/>
            <a:ext cx="104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Inter"/>
              </a:rPr>
              <a:t>•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21"/>
          <p:cNvSpPr/>
          <p:nvPr/>
        </p:nvSpPr>
        <p:spPr>
          <a:xfrm>
            <a:off x="6558120" y="3357720"/>
            <a:ext cx="468072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760" tIns="0" rIns="0" bIns="0" anchor="t">
            <a:spAutoFit/>
          </a:bodyPr>
          <a:p>
            <a:pPr defTabSz="457200">
              <a:lnSpc>
                <a:spcPts val="2251"/>
              </a:lnSpc>
            </a:pP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Inter"/>
              </a:rPr>
              <a:t>Preprocess and standardize the selected dataset.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2"/>
          <p:cNvSpPr/>
          <p:nvPr/>
        </p:nvSpPr>
        <p:spPr>
          <a:xfrm>
            <a:off x="6453360" y="3738600"/>
            <a:ext cx="104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23"/>
          <p:cNvSpPr/>
          <p:nvPr/>
        </p:nvSpPr>
        <p:spPr>
          <a:xfrm>
            <a:off x="6557760" y="3929040"/>
            <a:ext cx="46807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760" tIns="0" rIns="0" bIns="0" anchor="t">
            <a:spAutoFit/>
          </a:bodyPr>
          <a:p>
            <a:pPr defTabSz="457200">
              <a:lnSpc>
                <a:spcPts val="2251"/>
              </a:lnSpc>
            </a:pP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Inter"/>
              </a:rPr>
              <a:t>Create Genuine vs. Forged training/testing sets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24"/>
          <p:cNvSpPr/>
          <p:nvPr/>
        </p:nvSpPr>
        <p:spPr>
          <a:xfrm>
            <a:off x="6453360" y="4700880"/>
            <a:ext cx="104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Inter"/>
              </a:rPr>
              <a:t>•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25"/>
          <p:cNvSpPr/>
          <p:nvPr/>
        </p:nvSpPr>
        <p:spPr>
          <a:xfrm>
            <a:off x="6558120" y="4700880"/>
            <a:ext cx="46807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760" tIns="0" rIns="0" bIns="0" anchor="t">
            <a:spAutoFit/>
          </a:bodyPr>
          <a:p>
            <a:pPr defTabSz="457200">
              <a:lnSpc>
                <a:spcPts val="2251"/>
              </a:lnSpc>
            </a:pP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Inter"/>
              </a:rPr>
              <a:t>Train a baseline tampering detection model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26"/>
          <p:cNvSpPr/>
          <p:nvPr/>
        </p:nvSpPr>
        <p:spPr>
          <a:xfrm>
            <a:off x="6453360" y="2691000"/>
            <a:ext cx="104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Inter"/>
              </a:rPr>
              <a:t>•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27"/>
          <p:cNvSpPr/>
          <p:nvPr/>
        </p:nvSpPr>
        <p:spPr>
          <a:xfrm>
            <a:off x="6558120" y="2691000"/>
            <a:ext cx="468072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760" tIns="0" rIns="0" bIns="0" anchor="t">
            <a:spAutoFit/>
          </a:bodyPr>
          <a:p>
            <a:pPr marL="457200" defTabSz="457200">
              <a:lnSpc>
                <a:spcPts val="2251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28"/>
          <p:cNvSpPr/>
          <p:nvPr/>
        </p:nvSpPr>
        <p:spPr>
          <a:xfrm>
            <a:off x="6453360" y="3357720"/>
            <a:ext cx="104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Inter"/>
              </a:rPr>
              <a:t>•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9"/>
          <p:cNvSpPr/>
          <p:nvPr/>
        </p:nvSpPr>
        <p:spPr>
          <a:xfrm>
            <a:off x="6558120" y="3262320"/>
            <a:ext cx="468072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760" tIns="0" rIns="0" bIns="0" anchor="t">
            <a:spAutoFit/>
          </a:bodyPr>
          <a:p>
            <a:pPr marL="457200" defTabSz="457200">
              <a:lnSpc>
                <a:spcPts val="2251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31"/>
          <p:cNvSpPr/>
          <p:nvPr/>
        </p:nvSpPr>
        <p:spPr>
          <a:xfrm>
            <a:off x="6558120" y="3738600"/>
            <a:ext cx="468072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760" tIns="0" rIns="0" bIns="0" anchor="t">
            <a:spAutoFit/>
          </a:bodyPr>
          <a:p>
            <a:pPr marL="457200" defTabSz="457200">
              <a:lnSpc>
                <a:spcPts val="2251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32"/>
          <p:cNvSpPr/>
          <p:nvPr/>
        </p:nvSpPr>
        <p:spPr>
          <a:xfrm>
            <a:off x="6453360" y="4700880"/>
            <a:ext cx="1044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Inter"/>
              </a:rPr>
              <a:t>•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53"/>
          <p:cNvSpPr/>
          <p:nvPr/>
        </p:nvSpPr>
        <p:spPr>
          <a:xfrm>
            <a:off x="6558120" y="4700880"/>
            <a:ext cx="468072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4760" tIns="0" rIns="0" bIns="0" anchor="t">
            <a:spAutoFit/>
          </a:bodyPr>
          <a:p>
            <a:pPr marL="457200" defTabSz="457200">
              <a:lnSpc>
                <a:spcPts val="2251"/>
              </a:lnSpc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6378120" y="3929040"/>
            <a:ext cx="293040" cy="311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Inter"/>
              </a:rPr>
              <a:t>•</a:t>
            </a:r>
            <a:endParaRPr lang="en-IN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LibreOffice/26.2.5.2$Windows_X86_64 LibreOffice_project/cd7284b4cbbfeb507e630c1aac019f4157393acb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2026-08-23T16:25:43Z</dcterms:created>
  <dc:creator>PptxGenJS</dc:creator>
  <dc:description/>
  <dc:language>en-IN</dc:language>
  <cp:lastModifiedBy/>
  <dcterms:modified xsi:type="dcterms:W3CDTF">2026-09-01T08:06:07Z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4</vt:r8>
  </property>
  <property fmtid="{D5CDD505-2E9C-101B-9397-08002B2CF9AE}" pid="3" name="PresentationFormat">
    <vt:lpwstr>On-screen Show (16:9)</vt:lpwstr>
  </property>
  <property fmtid="{D5CDD505-2E9C-101B-9397-08002B2CF9AE}" pid="4" name="Slides">
    <vt:r8>4</vt:r8>
  </property>
</Properties>
</file>